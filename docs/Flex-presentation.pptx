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488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6600" b="1">
                <a:solidFill>
                  <a:srgbClr val="FFFFFF"/>
                </a:solidFill>
                <a:latin typeface="Helvetica Neue"/>
              </a:rPr>
              <a:t>Flex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2004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800" b="0">
                <a:solidFill>
                  <a:srgbClr val="9FE8CE"/>
                </a:solidFill>
                <a:latin typeface="Helvetica Neue"/>
              </a:rPr>
              <a:t>Le prix, c’est vous qui le dites.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8CA3B8"/>
                </a:solidFill>
                <a:latin typeface="Helvetica Neue"/>
              </a:rPr>
              <a:t>Transport avec négociation directe du prix, au Sénégal.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8CA3B8"/>
                </a:solidFill>
                <a:latin typeface="Helvetica Neue"/>
              </a:rPr>
              <a:t>Ce que voit le passager, ce que voit le conducteur.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65960"/>
            <a:ext cx="2011680" cy="50800"/>
          </a:xfrm>
          <a:prstGeom prst="rect">
            <a:avLst/>
          </a:prstGeom>
          <a:solidFill>
            <a:srgbClr val="9FE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77240"/>
            <a:ext cx="1645920" cy="38100"/>
          </a:xfrm>
          <a:prstGeom prst="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000" b="1">
                <a:solidFill>
                  <a:srgbClr val="0E1C2C"/>
                </a:solidFill>
                <a:latin typeface="Helvetica Neue"/>
              </a:rPr>
              <a:t>Le principe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0">
                <a:solidFill>
                  <a:srgbClr val="5B7186"/>
                </a:solidFill>
                <a:latin typeface="Helvetica Neue"/>
              </a:rPr>
              <a:t>Il n’y a pas de tarif. Il y a une négociation.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880360"/>
            <a:ext cx="411480" cy="411480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0E1C2C"/>
                </a:solidFill>
                <a:latin typeface="Helvetica Neue"/>
              </a:rPr>
              <a:t>Le passager propose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5B7186"/>
                </a:solidFill>
                <a:latin typeface="Helvetica Neue"/>
              </a:rPr>
              <a:t>Il indique son trajet et le montant qu’il veut payer, en FCFA.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880360"/>
            <a:ext cx="411480" cy="411480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3474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0E1C2C"/>
                </a:solidFill>
                <a:latin typeface="Helvetica Neue"/>
              </a:rPr>
              <a:t>Les conducteurs répondent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977639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5B7186"/>
                </a:solidFill>
                <a:latin typeface="Helvetica Neue"/>
              </a:rPr>
              <a:t>Ils acceptent ce prix, le refusent, ou en proposent un autre.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880360"/>
            <a:ext cx="411480" cy="411480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474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0E1C2C"/>
                </a:solidFill>
                <a:latin typeface="Helvetica Neue"/>
              </a:rPr>
              <a:t>Le passager choisit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977639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5B7186"/>
                </a:solidFill>
                <a:latin typeface="Helvetica Neue"/>
              </a:rPr>
              <a:t>Sur le prix, le délai d’arrivée, la note et le véhicule.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394960"/>
            <a:ext cx="10332720" cy="6858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500" b="1">
                <a:solidFill>
                  <a:srgbClr val="0E1C2C"/>
                </a:solidFill>
                <a:latin typeface="Helvetica Neue"/>
              </a:rPr>
              <a:t>Aucune majoration aux heures de pointe. Le prix est celui qui a été accepté.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7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560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Helvetica Neue"/>
              </a:rPr>
              <a:t>Côté passager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6576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0">
                <a:solidFill>
                  <a:srgbClr val="D6F9EB"/>
                </a:solidFill>
                <a:latin typeface="Helvetica Neue"/>
              </a:rPr>
              <a:t>Six écrans, de la découverte à la course.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377440"/>
            <a:ext cx="201168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ur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68680"/>
            <a:ext cx="2483036" cy="5394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0" y="1051560"/>
            <a:ext cx="1371600" cy="38100"/>
          </a:xfrm>
          <a:prstGeom prst="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23444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400" b="1">
                <a:solidFill>
                  <a:srgbClr val="0E1C2C"/>
                </a:solidFill>
                <a:latin typeface="Helvetica Neue"/>
              </a:rPr>
              <a:t>Le mini-tour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05740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0A6B53"/>
                </a:solidFill>
                <a:latin typeface="Helvetica Neue"/>
              </a:rPr>
              <a:t>Trois cartes, au premier lancement seulement.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843784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33088" y="27889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Il explique le produit avant de demander quoi que ce soit.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3319272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33088" y="3264408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« Passer » mène à la dernière carte, jamais à la sortie : la ligne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légale y vit, et le consentement ne se saute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995927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3941063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Il ne réapparaît plus jamais ensuite.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non-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68680"/>
            <a:ext cx="2483036" cy="5394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0" y="1051560"/>
            <a:ext cx="1371600" cy="38100"/>
          </a:xfrm>
          <a:prstGeom prst="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23444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400" b="1">
                <a:solidFill>
                  <a:srgbClr val="0E1C2C"/>
                </a:solidFill>
                <a:latin typeface="Helvetica Neue"/>
              </a:rPr>
              <a:t>L’accueil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05740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0A6B53"/>
                </a:solidFill>
                <a:latin typeface="Helvetica Neue"/>
              </a:rPr>
              <a:t>Consultable SANS compte.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843784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33088" y="27889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On regarde d’abord, on s’inscrit quand on agit.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3319272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33088" y="3264408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Deux services : trajet urbain à Dakar, et interurbain au départ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de Dakar.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995927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3941063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La carte, le point de départ, la destination — tout se prépare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avant d’avoir donné un numéro.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non-pri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68680"/>
            <a:ext cx="2483036" cy="5394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0" y="1051560"/>
            <a:ext cx="1371600" cy="38100"/>
          </a:xfrm>
          <a:prstGeom prst="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23444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400" b="1">
                <a:solidFill>
                  <a:srgbClr val="0E1C2C"/>
                </a:solidFill>
                <a:latin typeface="Helvetica Neue"/>
              </a:rPr>
              <a:t>Fixez votre prix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05740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0A6B53"/>
                </a:solidFill>
                <a:latin typeface="Helvetica Neue"/>
              </a:rPr>
              <a:t>C’est ici que le produit se joue.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843784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33088" y="27889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Le montant est libre, à l’intérieur d’une fourchette affichée.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3319272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33088" y="3264408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Les incréments sont de 100 FCFA, et le chiffre ne tressaute pas :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il est en chiffres tabulaires.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995927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3941063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« Envoyer ma proposition » est le premier geste qui demande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un compte — et la connexion ramène ici, rempli.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fres-v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68680"/>
            <a:ext cx="2483036" cy="5394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0" y="1051560"/>
            <a:ext cx="1371600" cy="38100"/>
          </a:xfrm>
          <a:prstGeom prst="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23444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400" b="1">
                <a:solidFill>
                  <a:srgbClr val="0E1C2C"/>
                </a:solidFill>
                <a:latin typeface="Helvetica Neue"/>
              </a:rPr>
              <a:t>L’attente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05740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0A6B53"/>
                </a:solidFill>
                <a:latin typeface="Helvetica Neue"/>
              </a:rPr>
              <a:t>L’état où l’écran passe le plus de temps.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843784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33088" y="27889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Un radar, pas un écran blanc : on vient d’appuyer sur un bouton,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et il faut que quelque chose réponde.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3520440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33088" y="3465576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Le minuteur circulaire donne la proportion de temps restant —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« encore 4 min » ne dit pas s’il en restait dix ou cinq.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4197096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4142232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« Annuler ma demande » reste accessible en bas.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fres-li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68680"/>
            <a:ext cx="2483036" cy="5394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0" y="1051560"/>
            <a:ext cx="1371600" cy="38100"/>
          </a:xfrm>
          <a:prstGeom prst="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23444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400" b="1">
                <a:solidFill>
                  <a:srgbClr val="0E1C2C"/>
                </a:solidFill>
                <a:latin typeface="Helvetica Neue"/>
              </a:rPr>
              <a:t>Les offres reçues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05740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0A6B53"/>
                </a:solidFill>
                <a:latin typeface="Helvetica Neue"/>
              </a:rPr>
              <a:t>Triées par prix, la moins chère en haut.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843784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33088" y="27889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« votre prix ✓ » quand le conducteur accepte le montant proposé.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3319272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33088" y="3264408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« Contre-offre » en rouge quand il en demande un autre — c’est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la seule chose que l’œil doit attraper avant d’appuyer.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995927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3941063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La moins chère porte un contour et le badge « AU MEILLEUR PRIX 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4471416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8" y="4416552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Photo, prénom, note, nombre de courses, véhicule, délai d’arrivée.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urse-avata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68680"/>
            <a:ext cx="2483036" cy="5394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0" y="1051560"/>
            <a:ext cx="1371600" cy="38100"/>
          </a:xfrm>
          <a:prstGeom prst="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23444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400" b="1">
                <a:solidFill>
                  <a:srgbClr val="0E1C2C"/>
                </a:solidFill>
                <a:latin typeface="Helvetica Neue"/>
              </a:rPr>
              <a:t>En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05740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0A6B53"/>
                </a:solidFill>
                <a:latin typeface="Helvetica Neue"/>
              </a:rPr>
              <a:t>La course acceptée.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843784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33088" y="27889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Le prix convenu, l’arrivée estimée, la plaque en grand.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3319272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33088" y="3264408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La position du conducteur n’est suivie QUE pendant le trajet, et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l’écran dit l’âge du dernier point plutôt que de mentir.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995927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3941063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Appeler, écrire, ou annuler.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5603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Helvetica Neue"/>
              </a:rPr>
              <a:t>Côté conducteur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6576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0">
                <a:solidFill>
                  <a:srgbClr val="9FE8CE"/>
                </a:solidFill>
                <a:latin typeface="Helvetica Neue"/>
              </a:rPr>
              <a:t>Un autre monde dans la même application.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377440"/>
            <a:ext cx="2011680" cy="50800"/>
          </a:xfrm>
          <a:prstGeom prst="rect">
            <a:avLst/>
          </a:prstGeom>
          <a:solidFill>
            <a:srgbClr val="9FE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ison-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68680"/>
            <a:ext cx="2483036" cy="5394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0" y="1051560"/>
            <a:ext cx="1371600" cy="38100"/>
          </a:xfrm>
          <a:prstGeom prst="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23444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400" b="1">
                <a:solidFill>
                  <a:srgbClr val="0E1C2C"/>
                </a:solidFill>
                <a:latin typeface="Helvetica Neue"/>
              </a:rPr>
              <a:t>La maison du conducteur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05740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0A6B53"/>
                </a:solidFill>
                <a:latin typeface="Helvetica Neue"/>
              </a:rPr>
              <a:t>Hors ligne. Rien n’arrive tant qu’on n’a pas appuyé.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843784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33088" y="27889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Les gains du jour en haut à gauche, en ambre — l’ambre appartient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aux montants.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3520440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33088" y="3465576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Un seul bouton, GO, à 96 points : il se trouve au volant.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995928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3941064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On n’ouvre JAMAIS l’application en ligne. Un démarrage à froid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revient toujours au monde passager.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4672584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8" y="46177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« Mode passager » ramène de l’autre côté à tout moment.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-conducteur-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68680"/>
            <a:ext cx="2483036" cy="5394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0" y="1051560"/>
            <a:ext cx="1371600" cy="38100"/>
          </a:xfrm>
          <a:prstGeom prst="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23444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400" b="1">
                <a:solidFill>
                  <a:srgbClr val="0E1C2C"/>
                </a:solidFill>
                <a:latin typeface="Helvetica Neue"/>
              </a:rPr>
              <a:t>En ligne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05740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0A6B53"/>
                </a:solidFill>
                <a:latin typeface="Helvetica Neue"/>
              </a:rPr>
              <a:t>Les demandes remontent en feuille sur la carte.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843784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33088" y="27889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Le prix proposé en grand, la commune de départ, la direction,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et le délai pour aller chercher le passager.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3520440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33088" y="3465576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Le prénom du passager et sa note — jamais son nom complet,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ni son numéro, ni sa position exacte.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4197096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4142232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Accepter à ce prix, contre-proposer, ou refuser.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4672584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8" y="46177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Refuser écarte la demande : elle ne revient pas.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ofil-conducte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68680"/>
            <a:ext cx="2483036" cy="53949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0" y="1051560"/>
            <a:ext cx="1371600" cy="38100"/>
          </a:xfrm>
          <a:prstGeom prst="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23444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400" b="1">
                <a:solidFill>
                  <a:srgbClr val="0E1C2C"/>
                </a:solidFill>
                <a:latin typeface="Helvetica Neue"/>
              </a:rPr>
              <a:t>Le profil conducteur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05740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0A6B53"/>
                </a:solidFill>
                <a:latin typeface="Helvetica Neue"/>
              </a:rPr>
              <a:t>Ce qui rapporte, et ce qu’il faut tenir à jour.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843784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33088" y="27889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Les gains de la semaine, puis le cumul — un conducteur pense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en semaines.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3520440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33088" y="3465576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Le véhicule et les documents, validés par un humain.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995928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3941064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Les badges : note, courses au volant, dossier validé.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4471416"/>
            <a:ext cx="109728" cy="109728"/>
          </a:xfrm>
          <a:prstGeom prst="round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8" y="4416552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5B7186"/>
                </a:solidFill>
                <a:latin typeface="Helvetica Neue"/>
              </a:rPr>
              <a:t>0 % de commission pendant six mois après le lancement.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645920" cy="38100"/>
          </a:xfrm>
          <a:prstGeom prst="rect">
            <a:avLst/>
          </a:prstGeom>
          <a:solidFill>
            <a:srgbClr val="0B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000" b="1">
                <a:solidFill>
                  <a:srgbClr val="0E1C2C"/>
                </a:solidFill>
                <a:latin typeface="Helvetica Neue"/>
              </a:rPr>
              <a:t>Ce que chacun voit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0">
                <a:solidFill>
                  <a:srgbClr val="5B7186"/>
                </a:solidFill>
                <a:latin typeface="Helvetica Neue"/>
              </a:rPr>
              <a:t>La confidentialité n’est pas un réglage : elle est dans la base.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514600"/>
          <a:ext cx="10332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566160"/>
                <a:gridCol w="3566160"/>
              </a:tblGrid>
              <a:tr h="487680">
                <a:tc>
                  <a:txBody>
                    <a:bodyPr/>
                    <a:lstStyle/>
                    <a:p/>
                  </a:txBody>
                  <a:tcPr anchor="ctr" marL="146304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AVANT acceptation</a:t>
                      </a:r>
                    </a:p>
                  </a:txBody>
                  <a:tcPr anchor="ctr" marL="146304">
                    <a:solidFill>
                      <a:srgbClr val="0E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APRÈS acceptation</a:t>
                      </a:r>
                    </a:p>
                  </a:txBody>
                  <a:tcPr anchor="ctr" marL="146304">
                    <a:solidFill>
                      <a:srgbClr val="0E1C2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1C2C"/>
                          </a:solidFill>
                          <a:latin typeface="Helvetica Neue"/>
                        </a:rPr>
                        <a:t>Position du passager</a:t>
                      </a:r>
                    </a:p>
                  </a:txBody>
                  <a:tcPr anchor="ctr" marL="1463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1C2C"/>
                          </a:solidFill>
                          <a:latin typeface="Helvetica Neue"/>
                        </a:rPr>
                        <a:t>Zone arrondie, nom de commune</a:t>
                      </a:r>
                    </a:p>
                  </a:txBody>
                  <a:tcPr anchor="ctr" marL="1463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1C2C"/>
                          </a:solidFill>
                          <a:latin typeface="Helvetica Neue"/>
                        </a:rPr>
                        <a:t>Point de départ exact</a:t>
                      </a:r>
                    </a:p>
                  </a:txBody>
                  <a:tcPr anchor="ctr" marL="146304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1C2C"/>
                          </a:solidFill>
                          <a:latin typeface="Helvetica Neue"/>
                        </a:rPr>
                        <a:t>Nom du passager</a:t>
                      </a:r>
                    </a:p>
                  </a:txBody>
                  <a:tcPr anchor="ctr" marL="146304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1C2C"/>
                          </a:solidFill>
                          <a:latin typeface="Helvetica Neue"/>
                        </a:rPr>
                        <a:t>Prénom seul</a:t>
                      </a:r>
                    </a:p>
                  </a:txBody>
                  <a:tcPr anchor="ctr" marL="146304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1C2C"/>
                          </a:solidFill>
                          <a:latin typeface="Helvetica Neue"/>
                        </a:rPr>
                        <a:t>Prénom seul</a:t>
                      </a:r>
                    </a:p>
                  </a:txBody>
                  <a:tcPr anchor="ctr" marL="146304">
                    <a:solidFill>
                      <a:srgbClr val="EEF3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1C2C"/>
                          </a:solidFill>
                          <a:latin typeface="Helvetica Neue"/>
                        </a:rPr>
                        <a:t>Numéro de téléphone</a:t>
                      </a:r>
                    </a:p>
                  </a:txBody>
                  <a:tcPr anchor="ctr" marL="1463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1C2C"/>
                          </a:solidFill>
                          <a:latin typeface="Helvetica Neue"/>
                        </a:rPr>
                        <a:t>Jamais</a:t>
                      </a:r>
                    </a:p>
                  </a:txBody>
                  <a:tcPr anchor="ctr" marL="1463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1C2C"/>
                          </a:solidFill>
                          <a:latin typeface="Helvetica Neue"/>
                        </a:rPr>
                        <a:t>Servi à la contrepartie</a:t>
                      </a:r>
                    </a:p>
                  </a:txBody>
                  <a:tcPr anchor="ctr" marL="146304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1C2C"/>
                          </a:solidFill>
                          <a:latin typeface="Helvetica Neue"/>
                        </a:rPr>
                        <a:t>Position du conducteur</a:t>
                      </a:r>
                    </a:p>
                  </a:txBody>
                  <a:tcPr anchor="ctr" marL="146304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1C2C"/>
                          </a:solidFill>
                          <a:latin typeface="Helvetica Neue"/>
                        </a:rPr>
                        <a:t>Personne ne le suit</a:t>
                      </a:r>
                    </a:p>
                  </a:txBody>
                  <a:tcPr anchor="ctr" marL="146304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1C2C"/>
                          </a:solidFill>
                          <a:latin typeface="Helvetica Neue"/>
                        </a:rPr>
                        <a:t>Suivi pendant le trajet seulement</a:t>
                      </a:r>
                    </a:p>
                  </a:txBody>
                  <a:tcPr anchor="ctr" marL="146304">
                    <a:solidFill>
                      <a:srgbClr val="EEF3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1C2C"/>
                          </a:solidFill>
                          <a:latin typeface="Helvetica Neue"/>
                        </a:rPr>
                        <a:t>Véhicule</a:t>
                      </a:r>
                    </a:p>
                  </a:txBody>
                  <a:tcPr anchor="ctr" marL="1463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1C2C"/>
                          </a:solidFill>
                          <a:latin typeface="Helvetica Neue"/>
                        </a:rPr>
                        <a:t>Modèle et couleur</a:t>
                      </a:r>
                    </a:p>
                  </a:txBody>
                  <a:tcPr anchor="ctr" marL="1463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1C2C"/>
                          </a:solidFill>
                          <a:latin typeface="Helvetica Neue"/>
                        </a:rPr>
                        <a:t>Modèle, couleur et plaque</a:t>
                      </a:r>
                    </a:p>
                  </a:txBody>
                  <a:tcPr anchor="ctr" marL="1463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5B7186"/>
                </a:solidFill>
                <a:latin typeface="Helvetica Neue"/>
              </a:rPr>
              <a:t>Ces règles sont écrites en policies PostgreSQL et vérifiées par des tests automatisés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5B7186"/>
                </a:solidFill>
                <a:latin typeface="Helvetica Neue"/>
              </a:rPr>
              <a:t>à chaque modification du code — pas par une relecture.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77240"/>
            <a:ext cx="1645920" cy="38100"/>
          </a:xfrm>
          <a:prstGeom prst="rect">
            <a:avLst/>
          </a:prstGeom>
          <a:solidFill>
            <a:srgbClr val="9FE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Helvetica Neue"/>
              </a:rPr>
              <a:t>Où en est l’application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9FE8CE"/>
                </a:solidFill>
                <a:latin typeface="Helvetica Neue"/>
              </a:rPr>
              <a:t>Prête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F1F6FA"/>
                </a:solidFill>
                <a:latin typeface="Helvetica Neue"/>
              </a:rPr>
              <a:t>·  24 écrans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8211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F1F6FA"/>
                </a:solidFill>
                <a:latin typeface="Helvetica Neue"/>
              </a:rPr>
              <a:t>·  50 migrations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2102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F1F6FA"/>
                </a:solidFill>
                <a:latin typeface="Helvetica Neue"/>
              </a:rPr>
              <a:t>·  352 assertions de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59935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F1F6FA"/>
                </a:solidFill>
                <a:latin typeface="Helvetica Neue"/>
              </a:rPr>
              <a:t>·  69 tests unitaires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03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9FE8CE"/>
                </a:solidFill>
                <a:latin typeface="Helvetica Neue"/>
              </a:rPr>
              <a:t>Chez Apple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743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F1F6FA"/>
                </a:solidFill>
                <a:latin typeface="Helvetica Neue"/>
              </a:rPr>
              <a:t>·  Build 6 envoyé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18211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F1F6FA"/>
                </a:solidFill>
                <a:latin typeface="Helvetica Neue"/>
              </a:rPr>
              <a:t>·  Fiche complète, FR et 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62102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F1F6FA"/>
                </a:solidFill>
                <a:latin typeface="Helvetica Neue"/>
              </a:rPr>
              <a:t>·  Deux comptes de revue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059935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F1F6FA"/>
                </a:solidFill>
                <a:latin typeface="Helvetica Neue"/>
              </a:rPr>
              <a:t>·  Captures à faire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03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1">
                <a:solidFill>
                  <a:srgbClr val="9FE8CE"/>
                </a:solidFill>
                <a:latin typeface="Helvetica Neue"/>
              </a:rPr>
              <a:t>Avant le lancement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743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F1F6FA"/>
                </a:solidFill>
                <a:latin typeface="Helvetica Neue"/>
              </a:rPr>
              <a:t>·  Twilio : ouvrir le +221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18211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F1F6FA"/>
                </a:solidFill>
                <a:latin typeface="Helvetica Neue"/>
              </a:rPr>
              <a:t>·  CGU par un juriste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62102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F1F6FA"/>
                </a:solidFill>
                <a:latin typeface="Helvetica Neue"/>
              </a:rPr>
              <a:t>·  NINEA et RCCM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059935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F1F6FA"/>
                </a:solidFill>
                <a:latin typeface="Helvetica Neue"/>
              </a:rPr>
              <a:t>·  Paiement Wave, après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9FE8CE"/>
                </a:solidFill>
                <a:latin typeface="Helvetica Neue"/>
              </a:rPr>
              <a:t>Au lancement : course en cash, 0 % de commission pendant six mois.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CA3B8"/>
                </a:solidFill>
                <a:latin typeface="Helvetica Neue"/>
              </a:rPr>
              <a:t>Captures prises sur simulateur — le bouton rond bleu est l’outil de développement d’Expo, il ne fait pas partie de l’application.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